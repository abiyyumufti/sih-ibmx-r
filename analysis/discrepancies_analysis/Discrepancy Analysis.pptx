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02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Site as-is</c:v>
                </c:pt>
              </c:strCache>
            </c:strRef>
          </c:tx>
          <c:spPr>
            <a:solidFill>
              <a:srgbClr val="C8553D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Hull Duration</c:v>
                </c:pt>
                <c:pt idx="1">
                  <c:v>Hull Stops</c:v>
                </c:pt>
                <c:pt idx="2">
                  <c:v>Hull Value</c:v>
                </c:pt>
                <c:pt idx="3">
                  <c:v>Notts Duration</c:v>
                </c:pt>
                <c:pt idx="4">
                  <c:v>Notts Stops</c:v>
                </c:pt>
                <c:pt idx="5">
                  <c:v>Notts Value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40.21</c:v>
                </c:pt>
                <c:pt idx="1">
                  <c:v>6.43</c:v>
                </c:pt>
                <c:pt idx="2">
                  <c:v>6.53</c:v>
                </c:pt>
                <c:pt idx="3">
                  <c:v>13.5</c:v>
                </c:pt>
                <c:pt idx="4">
                  <c:v>4.3</c:v>
                </c:pt>
                <c:pt idx="5">
                  <c:v>7.0000000000000007E-2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BEE-4C70-AE9F-D907F1EE98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Site + EU filter</c:v>
                </c:pt>
              </c:strCache>
            </c:strRef>
          </c:tx>
          <c:spPr>
            <a:solidFill>
              <a:srgbClr val="2A9D8F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Hull Duration</c:v>
                </c:pt>
                <c:pt idx="1">
                  <c:v>Hull Stops</c:v>
                </c:pt>
                <c:pt idx="2">
                  <c:v>Hull Value</c:v>
                </c:pt>
                <c:pt idx="3">
                  <c:v>Notts Duration</c:v>
                </c:pt>
                <c:pt idx="4">
                  <c:v>Notts Stops</c:v>
                </c:pt>
                <c:pt idx="5">
                  <c:v>Notts Value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0.02</c:v>
                </c:pt>
                <c:pt idx="1">
                  <c:v>0.04</c:v>
                </c:pt>
                <c:pt idx="2">
                  <c:v>6.53</c:v>
                </c:pt>
                <c:pt idx="3">
                  <c:v>0.03</c:v>
                </c:pt>
                <c:pt idx="4">
                  <c:v>0.03</c:v>
                </c:pt>
                <c:pt idx="5">
                  <c:v>7.0000000000000007E-2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BEE-4C70-AE9F-D907F1EE98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Same</c:v>
                </c:pt>
              </c:strCache>
            </c:strRef>
          </c:tx>
          <c:spPr>
            <a:solidFill>
              <a:srgbClr val="2A9D8F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Hull 2025</c:v>
                </c:pt>
                <c:pt idx="1">
                  <c:v>Hull 2026</c:v>
                </c:pt>
                <c:pt idx="2">
                  <c:v>Notts 2025</c:v>
                </c:pt>
                <c:pt idx="3">
                  <c:v>Notts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5148</c:v>
                </c:pt>
                <c:pt idx="1">
                  <c:v>3807</c:v>
                </c:pt>
                <c:pt idx="2">
                  <c:v>0</c:v>
                </c:pt>
                <c:pt idx="3">
                  <c:v>4152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213-41B8-A8AF-A45A60B2DB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Different</c:v>
                </c:pt>
              </c:strCache>
            </c:strRef>
          </c:tx>
          <c:spPr>
            <a:solidFill>
              <a:srgbClr val="C8553D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Hull 2025</c:v>
                </c:pt>
                <c:pt idx="1">
                  <c:v>Hull 2026</c:v>
                </c:pt>
                <c:pt idx="2">
                  <c:v>Notts 2025</c:v>
                </c:pt>
                <c:pt idx="3">
                  <c:v>Notts 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818</c:v>
                </c:pt>
                <c:pt idx="2">
                  <c:v>0</c:v>
                </c:pt>
                <c:pt idx="3">
                  <c:v>540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213-41B8-A8AF-A45A60B2DB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Only regional</c:v>
                </c:pt>
              </c:strCache>
            </c:strRef>
          </c:tx>
          <c:spPr>
            <a:solidFill>
              <a:srgbClr val="E9A83A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Hull 2025</c:v>
                </c:pt>
                <c:pt idx="1">
                  <c:v>Hull 2026</c:v>
                </c:pt>
                <c:pt idx="2">
                  <c:v>Notts 2025</c:v>
                </c:pt>
                <c:pt idx="3">
                  <c:v>Notts 2026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204</c:v>
                </c:pt>
                <c:pt idx="2">
                  <c:v>24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213-41B8-A8AF-A45A60B2DB0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Only site</c:v>
                </c:pt>
              </c:strCache>
            </c:strRef>
          </c:tx>
          <c:spPr>
            <a:solidFill>
              <a:srgbClr val="1F3A4D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Hull 2025</c:v>
                </c:pt>
                <c:pt idx="1">
                  <c:v>Hull 2026</c:v>
                </c:pt>
                <c:pt idx="2">
                  <c:v>Notts 2025</c:v>
                </c:pt>
                <c:pt idx="3">
                  <c:v>Notts 2026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475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9213-41B8-A8AF-A45A60B2DB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Effect on Value</c:v>
                </c:pt>
              </c:strCache>
            </c:strRef>
          </c:tx>
          <c:spPr>
            <a:solidFill>
              <a:srgbClr val="E9A83A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Seconds dropped</c:v>
                </c:pt>
                <c:pt idx="1">
                  <c:v>Machine filter</c:v>
                </c:pt>
                <c:pt idx="2">
                  <c:v>Glidepath file + key</c:v>
                </c:pt>
                <c:pt idx="3">
                  <c:v>Refresh date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73847</c:v>
                </c:pt>
                <c:pt idx="3">
                  <c:v>-237.7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F68-412E-8656-9DE4841A80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EU vs site OEE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>
                <a:solidFill>
                  <a:srgbClr val="C9D8E0"/>
                </a:solidFill>
                <a:latin typeface="Calibri"/>
              </a:rPr>
              <a:t>Why Daily Losses, Plan OPT and Time Utilisation differ, and how to reconcile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E9A83A"/>
                </a:solidFill>
                <a:latin typeface="Calibri"/>
              </a:rPr>
              <a:t>Hull and Nottingham  |  Power BI files compared up to 15 Sep 2026  |  27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Same data, different set-up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Once the EU and site reports use the same machines and dates, the volumes match to within 0.05%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474720" cy="283464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19" y="1965960"/>
            <a:ext cx="2514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 i="0">
                <a:solidFill>
                  <a:srgbClr val="1F3A4D"/>
                </a:solidFill>
                <a:latin typeface="Calibri"/>
              </a:rPr>
              <a:t>1. Hidden machine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301752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The EU queries drop machines the site reports keep: 19 at Hull, a different rule per table at Nottingham. This is the whole row and volume gap.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737360"/>
            <a:ext cx="3474720" cy="283464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1999" y="1965960"/>
            <a:ext cx="457200" cy="457200"/>
          </a:xfrm>
          <a:prstGeom prst="ellipse">
            <a:avLst/>
          </a:prstGeom>
          <a:solidFill>
            <a:srgbClr val="E9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59" y="1965960"/>
            <a:ext cx="2514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 i="0">
                <a:solidFill>
                  <a:srgbClr val="1F3A4D"/>
                </a:solidFill>
                <a:latin typeface="Calibri"/>
              </a:rPr>
              <a:t>2. Different glidepath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606040"/>
            <a:ext cx="301752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The EU reads targets from a regional folder, each site from its own. Hull's two files split in 2026; Nottingham's only differ in units.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737360"/>
            <a:ext cx="3474720" cy="283464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21040" y="1965960"/>
            <a:ext cx="457200" cy="45720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15399" y="1965960"/>
            <a:ext cx="2514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 i="0">
                <a:solidFill>
                  <a:srgbClr val="1F3A4D"/>
                </a:solidFill>
                <a:latin typeface="Calibri"/>
              </a:rPr>
              <a:t>3. Small formula effects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01752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The EU drops the seconds from Plan OPT times (about 0.1%) and each file was refreshed on a different day (under 0.01%).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00600"/>
            <a:ext cx="3474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2A9D8F"/>
                </a:solidFill>
                <a:latin typeface="Cambria"/>
              </a:rPr>
              <a:t>40.2%  →  0.02%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49240"/>
            <a:ext cx="3474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C6B73"/>
                </a:solidFill>
                <a:latin typeface="Calibri"/>
              </a:rPr>
              <a:t>Hull Daily Losses duration gap, before / after the EU 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4800600"/>
            <a:ext cx="3474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2A9D8F"/>
                </a:solidFill>
                <a:latin typeface="Cambria"/>
              </a:rPr>
              <a:t>13.5%  →  0.03%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5349240"/>
            <a:ext cx="3474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C6B73"/>
                </a:solidFill>
                <a:latin typeface="Calibri"/>
              </a:rPr>
              <a:t>Nottingham Daily Losses duration gap, before / after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4800600"/>
            <a:ext cx="3474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C8553D"/>
                </a:solidFill>
                <a:latin typeface="Cambria"/>
              </a:rPr>
              <a:t>6.5%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349240"/>
            <a:ext cx="3474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C6B73"/>
                </a:solidFill>
                <a:latin typeface="Calibri"/>
              </a:rPr>
              <a:t>Hull loss target (Value) gap that stays: glidepath, not filter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How we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Each check is repeated on the data extracted from the three .pbix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731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E9A83A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2194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F3A4D"/>
                </a:solidFill>
                <a:latin typeface="Calibri"/>
              </a:rPr>
              <a:t>Same cut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21945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All visuals: date on or before 15 Sep 2026. The EU file ends on 16 Sep.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27248" y="2971800"/>
            <a:ext cx="237744" cy="274320"/>
          </a:xfrm>
          <a:prstGeom prst="rightArrow">
            <a:avLst/>
          </a:prstGeom>
          <a:solidFill>
            <a:srgbClr val="5C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83280" y="192024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2057400"/>
            <a:ext cx="731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E9A83A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697480"/>
            <a:ext cx="2194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F3A4D"/>
                </a:solidFill>
                <a:latin typeface="Calibri"/>
              </a:rPr>
              <a:t>EU as shown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154680"/>
            <a:ext cx="21945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EU report table filtered to one site: what the EU pages show.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1888" y="2971800"/>
            <a:ext cx="237744" cy="274320"/>
          </a:xfrm>
          <a:prstGeom prst="rightArrow">
            <a:avLst/>
          </a:prstGeom>
          <a:solidFill>
            <a:srgbClr val="5C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17920" y="192024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2057400"/>
            <a:ext cx="731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E9A83A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97480"/>
            <a:ext cx="2194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F3A4D"/>
                </a:solidFill>
                <a:latin typeface="Calibri"/>
              </a:rPr>
              <a:t>Site as-is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54680"/>
            <a:ext cx="21945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Site report table, no extra filter: what the site pages show.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96528" y="2971800"/>
            <a:ext cx="237744" cy="274320"/>
          </a:xfrm>
          <a:prstGeom prst="rightArrow">
            <a:avLst/>
          </a:prstGeom>
          <a:solidFill>
            <a:srgbClr val="5C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052560" y="192024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1160" y="2057400"/>
            <a:ext cx="731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E9A83A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697480"/>
            <a:ext cx="2194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F3A4D"/>
                </a:solidFill>
                <a:latin typeface="Calibri"/>
              </a:rPr>
              <a:t>Site + EU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154680"/>
            <a:ext cx="21945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Site table with the EU machine rule applied in the visual filter.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A9D8F"/>
                </a:solidFill>
              </a:rPr>
              <a:t>▪ </a:t>
            </a:r>
            <a:r>
              <a:rPr sz="1500" b="1">
                <a:solidFill>
                  <a:srgbClr val="222B31"/>
                </a:solidFill>
                <a:latin typeface="Calibri"/>
              </a:rPr>
              <a:t>Measured columns </a:t>
            </a:r>
            <a:r>
              <a:rPr sz="1500">
                <a:solidFill>
                  <a:srgbClr val="222B31"/>
                </a:solidFill>
                <a:latin typeface="Calibri"/>
              </a:rPr>
              <a:t>(stop count, Duration, Good Parts, Capacity, times) prove the filter.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A9D8F"/>
                </a:solidFill>
              </a:rPr>
              <a:t>▪ </a:t>
            </a:r>
            <a:r>
              <a:rPr sz="1500" b="1">
                <a:solidFill>
                  <a:srgbClr val="222B31"/>
                </a:solidFill>
                <a:latin typeface="Calibri"/>
              </a:rPr>
              <a:t>Looked-up columns </a:t>
            </a:r>
            <a:r>
              <a:rPr sz="1500">
                <a:solidFill>
                  <a:srgbClr val="222B31"/>
                </a:solidFill>
                <a:latin typeface="Calibri"/>
              </a:rPr>
              <a:t>(Value, targets) come from a glidepath file and are checked separately.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000" b="1" i="0">
                <a:solidFill>
                  <a:srgbClr val="E9A83A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0584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The hidden machine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058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C9D8E0"/>
                </a:solidFill>
                <a:latin typeface="Calibri"/>
              </a:rPr>
              <a:t>A Power Query step in the EU report removes machines the site reports keep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The EU report drops 19 Hull machines in Power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Step 'Filtered Rows' at the end of the Hull queries in the EU file; not visible on any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01-hull-machine-filter-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87480"/>
            <a:ext cx="6766560" cy="4397439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680960" y="1645920"/>
            <a:ext cx="4023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F3A4D"/>
                </a:solidFill>
                <a:latin typeface="Calibri"/>
              </a:rPr>
              <a:t>Removed in all three Hull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103120"/>
            <a:ext cx="402336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4 Tonne, 6 Tonne, 6000L,</a:t>
            </a:r>
          </a:p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Analgesics Processing,</a:t>
            </a:r>
          </a:p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Analgesics X Press, Bosch Capsulator,</a:t>
            </a:r>
          </a:p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Dettol 1, Evolution, Fitten,</a:t>
            </a:r>
          </a:p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Gaviscon TPR, Gaviscon XP700(A),</a:t>
            </a:r>
          </a:p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GG4, GG5, GG6, GG7,</a:t>
            </a:r>
          </a:p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Lemsip Process, Senokot Press,</a:t>
            </a:r>
          </a:p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Symex suite, Vacumix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4892040"/>
            <a:ext cx="4023360" cy="118872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4983480"/>
            <a:ext cx="3749039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C6B73"/>
                </a:solidFill>
                <a:latin typeface="Calibri"/>
              </a:rPr>
              <a:t>Mostly process equipment (mixers, presses, granulation). Same list in Daily Losses, Plan OPT and Time Utilisation.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Nottingham uses a different rule in each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Plan OPT and Time Utilisation keep the same 23 packing machines; Daily Losses keeps manufacturing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Hull (EU rule)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Nottingham (EU rule)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Nottingham machines left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Daily Losses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remove 19 names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remove 9 names: Bosch, Fette 23, Fette12, Fette2, Fette20, Fette4, Fette5, Gran0, S14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all others, manufacturing included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Plan OPT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remove 19 names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keep area ' Strepsils Packing' or 'SD Packing', remove S14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23 packing machines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Time Utilisation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remove 19 names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keep 23 named machines (N1, N3–N12, O5, O6, S04–S13, T2, T7)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the same 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Hull: </a:t>
            </a:r>
            <a:r>
              <a:rPr sz="1400">
                <a:solidFill>
                  <a:srgbClr val="222B31"/>
                </a:solidFill>
                <a:latin typeface="Calibri"/>
              </a:rPr>
              <a:t>one list, applied the same way in all three tables.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Nottingham: </a:t>
            </a:r>
            <a:r>
              <a:rPr sz="1400">
                <a:solidFill>
                  <a:srgbClr val="222B31"/>
                </a:solidFill>
                <a:latin typeface="Calibri"/>
              </a:rPr>
              <a:t>three rules. Plan OPT and Time Utilisation end up with the same machines; Daily Losses does not. Note the leading space in ' Strepsils Packing'.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Question for Reckitt: </a:t>
            </a:r>
            <a:r>
              <a:rPr sz="1400">
                <a:solidFill>
                  <a:srgbClr val="222B31"/>
                </a:solidFill>
                <a:latin typeface="Calibri"/>
              </a:rPr>
              <a:t>why is each rule there, and should Nottingham losses follow the packing-only rule of the other two tables?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000" b="1" i="0">
                <a:solidFill>
                  <a:srgbClr val="E9A83A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0584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Daily Losses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058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C9D8E0"/>
                </a:solidFill>
                <a:latin typeface="Calibri"/>
              </a:rPr>
              <a:t>Stop count, Duration and loss target Value per month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Hull Daily Losses: the gap before any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EU report (Hull) next to the Hull site report, as-is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12-eu-vs-hull-daily-losses-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934136"/>
            <a:ext cx="6949440" cy="3904127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863840" y="16916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0" y="2240280"/>
          <a:ext cx="42062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EU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Site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Duration (min)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4,919,662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6,897,737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+40.21%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Stops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223,564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237,930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+6.43%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Value (target)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1,136,962.0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1,211,173.4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+6.53%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63840" y="4114800"/>
            <a:ext cx="40233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The site shows 14,366 more stops and 40% more duration than the EU for the same period.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Hull Daily Losses: the EU filter closes the volume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Hull site report with the 19 machines removed in the visual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15-eu-vs-hull-after-filter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24467"/>
            <a:ext cx="6949440" cy="3123465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863840" y="16916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MATCH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0" y="2240280"/>
          <a:ext cx="42062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EU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Site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Duration (min)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4,919,662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4,920,879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+0.02%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Stops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223,564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223,658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+0.04%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Value (target)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1,136,962.0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1,211,173.4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+6.53%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63840" y="4114800"/>
            <a:ext cx="402336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Duration and stops now match to 0.04%. Value stays 6.5% apart: it is a looked-up target, and the filter does not change which target a stop finds (section 05).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Nottingham Daily Losses: the gap before any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EU report (Nottingham) next to the Nottingham site report, as-is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13-eu-vs-nottingham-daily-losses-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95279"/>
            <a:ext cx="6949440" cy="3981841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863840" y="16916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0" y="2240280"/>
          <a:ext cx="42062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EU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Site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Duration (min)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6,830,487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7,752,773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+13.50%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Stops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332,252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346,532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+4.30%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Value (target)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536,579.7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536,954.8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+0.07%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63840" y="4114800"/>
            <a:ext cx="40233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13.5% more duration and 14,280 more stops on the site. Value already matches.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Nottingham Daily Losses: the 9-machine rule closes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Nottingham site report without Bosch, Fette 23, Fette12, Fette2, Fette20, Fette4, Fette5, Gran0, S14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18-eu-vs-nottingham-filtered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98735"/>
            <a:ext cx="6949439" cy="3574929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863840" y="16916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MATCH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0" y="2240280"/>
          <a:ext cx="42062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EU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Site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Duration (min)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6,830,487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6,832,409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+0.03%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Stops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332,252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332,361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+0.03%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Value (target)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536,579.7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536,954.8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+0.07%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63840" y="4114800"/>
            <a:ext cx="402336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All three measures within 0.07%. Take care with near-identical names: excluding 'Fette 10' by mistake flips the gap to –4%.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Daily Losses: gap to the EU, before and after the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Grand totals, Dec 2024 to 15 Sep 2026 (notebook compare_eu_vs_site.ipynb)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12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63840" y="1737360"/>
          <a:ext cx="38404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Hull Duration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+40.21%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+0.02%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Hull Stops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+6.43%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+0.04%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Hull Value</a:t>
                      </a:r>
                    </a:p>
                  </a:txBody>
                  <a:tcPr marL="73152" marR="73152" marT="27432" marB="27432" anchor="ctr"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+6.53%</a:t>
                      </a:r>
                    </a:p>
                  </a:txBody>
                  <a:tcPr marL="73152" marR="73152" marT="27432" marB="27432" anchor="ctr"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+6.53%</a:t>
                      </a:r>
                    </a:p>
                  </a:txBody>
                  <a:tcPr marL="73152" marR="73152" marT="27432" marB="27432" anchor="ctr">
                    <a:solidFill>
                      <a:srgbClr val="DD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Notts Duration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+13.50%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+0.03%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Notts Stops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+4.30%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+0.03%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Notts Value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+0.07%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+0.07%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63840" y="4480560"/>
            <a:ext cx="38404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C6B73"/>
                </a:solidFill>
                <a:latin typeface="Calibri"/>
              </a:rPr>
              <a:t>Left after the filter: only Hull Value (glidepath) and a few stops of the last days (refresh date).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000" b="1" i="0">
                <a:solidFill>
                  <a:srgbClr val="E9A83A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0584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Plan OPT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058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C9D8E0"/>
                </a:solidFill>
                <a:latin typeface="Calibri"/>
              </a:rPr>
              <a:t>Good Parts, Capacity and the three times per month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Hull Plan OPT: site before and after the EU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Hull site report, date on or before 15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14</a:t>
            </a:r>
          </a:p>
        </p:txBody>
      </p:sp>
      <p:pic>
        <p:nvPicPr>
          <p:cNvPr id="6" name="Picture 5" descr="22-hull-site-plan-opt-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76853"/>
            <a:ext cx="5486400" cy="3784453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1664208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Site as-is</a:t>
            </a:r>
          </a:p>
        </p:txBody>
      </p:sp>
      <p:pic>
        <p:nvPicPr>
          <p:cNvPr id="8" name="Picture 7" descr="23c-hull-site-plan-opt-eu-filter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291548"/>
            <a:ext cx="5486400" cy="3555062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309360" y="1664208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Site + 19 machines removed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Hull Plan OPT: the EU view matches the filtered 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EU report, Plan OPT EU, site = Hull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15</a:t>
            </a:r>
          </a:p>
        </p:txBody>
      </p:sp>
      <p:pic>
        <p:nvPicPr>
          <p:cNvPr id="6" name="Picture 5" descr="26-eu-plan-opt-h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65539"/>
            <a:ext cx="5852160" cy="4041320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766560" y="16916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MATCH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6560" y="2240280"/>
          <a:ext cx="502920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Site + filter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EU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Good Parts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366,808,946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366,808,946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+0.00%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Capacity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885,416,597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885,452,497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-0.00%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Total Time (min)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9,735,444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9,735,147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+0.00%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Planned Time (min)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9,038,814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9,038,580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+0.00%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OEE Time (min)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3,864,430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3,859,252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+0.13%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4434840"/>
            <a:ext cx="50292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222B31"/>
                </a:solidFill>
                <a:latin typeface="Calibri"/>
              </a:rPr>
              <a:t>Counts identical. The EU times are whole minutes: its union step keeps hours × 60 + minutes and drops the seconds, so OEE Time is 0.13% lower.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Nottingham Plan OPT: site before and after the EU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Nottingham site report, 23 packing machines kept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16</a:t>
            </a:r>
          </a:p>
        </p:txBody>
      </p:sp>
      <p:pic>
        <p:nvPicPr>
          <p:cNvPr id="6" name="Picture 5" descr="28-nott-site-plan-opt-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23890"/>
            <a:ext cx="5120640" cy="3490378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1664208"/>
            <a:ext cx="5120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Site as-is</a:t>
            </a:r>
          </a:p>
        </p:txBody>
      </p:sp>
      <p:pic>
        <p:nvPicPr>
          <p:cNvPr id="8" name="Picture 7" descr="31-nott-site-plan-opt-eu-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026495"/>
            <a:ext cx="5852159" cy="2085169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943600" y="1664208"/>
            <a:ext cx="5852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Site + 23 packing machines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Plan OPT: gap to the EU, both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EU Nottingham values from the data loaded in the EU .pbix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Site / measure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Site as-is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Site + EU rule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EU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Gap as-is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Gap after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Hull Good Parts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522,256,881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366,808,946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366,808,946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+42.38%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22B31"/>
                          </a:solidFill>
                          <a:latin typeface="Calibri"/>
                        </a:rPr>
                        <a:t>+0.00%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Hull Capacity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1,358,576,635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885,416,597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885,452,497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+53.43%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22B31"/>
                          </a:solidFill>
                          <a:latin typeface="Calibri"/>
                        </a:rPr>
                        <a:t>-0.00%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Hull OEE Time (min)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5,505,570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3,864,430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3,859,252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+42.66%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22B31"/>
                          </a:solidFill>
                          <a:latin typeface="Calibri"/>
                        </a:rPr>
                        <a:t>+0.13%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Nottingham Good Parts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651,114,265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621,276,541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621,276,541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+4.80%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22B31"/>
                          </a:solidFill>
                          <a:latin typeface="Calibri"/>
                        </a:rPr>
                        <a:t>+0.00%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Nottingham Capacity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1,144,561,423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1,095,278,674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1,095,225,034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+4.50%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22B31"/>
                          </a:solidFill>
                          <a:latin typeface="Calibri"/>
                        </a:rPr>
                        <a:t>+0.00%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Nottingham OEE Time (min)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11,982,184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5,281,794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5,276,230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+127.10%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22B31"/>
                          </a:solidFill>
                          <a:latin typeface="Calibri"/>
                        </a:rPr>
                        <a:t>+0.11%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Good Parts: </a:t>
            </a:r>
            <a:r>
              <a:rPr sz="1400">
                <a:solidFill>
                  <a:srgbClr val="222B31"/>
                </a:solidFill>
                <a:latin typeface="Calibri"/>
              </a:rPr>
              <a:t>identical at both sites once the EU rule is applied.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Capacity: </a:t>
            </a:r>
            <a:r>
              <a:rPr sz="1400">
                <a:solidFill>
                  <a:srgbClr val="222B31"/>
                </a:solidFill>
                <a:latin typeface="Calibri"/>
              </a:rPr>
              <a:t>0.004 to 0.005% apart, from the refresh date.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OEE Time: </a:t>
            </a:r>
            <a:r>
              <a:rPr sz="1400">
                <a:solidFill>
                  <a:srgbClr val="222B31"/>
                </a:solidFill>
                <a:latin typeface="Calibri"/>
              </a:rPr>
              <a:t>0.1% lower in the EU: seconds dropped in the union step, a formula difference.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000" b="1" i="0">
                <a:solidFill>
                  <a:srgbClr val="E9A83A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0584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Time Utilisation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058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C9D8E0"/>
                </a:solidFill>
                <a:latin typeface="Calibri"/>
              </a:rPr>
              <a:t>OEE Time, Total Time and Planned OPT per month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Hull Time Utilisation: site before and after the EU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Hull site report, date on or before 15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19</a:t>
            </a:r>
          </a:p>
        </p:txBody>
      </p:sp>
      <p:pic>
        <p:nvPicPr>
          <p:cNvPr id="6" name="Picture 5" descr="24-hull-site-time-util-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88186"/>
            <a:ext cx="5486400" cy="3361786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1664208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Site as-is</a:t>
            </a:r>
          </a:p>
        </p:txBody>
      </p:sp>
      <p:pic>
        <p:nvPicPr>
          <p:cNvPr id="8" name="Picture 7" descr="25c-hull-site-time-util-eu-filter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953" y="2011680"/>
            <a:ext cx="5335212" cy="4114800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309360" y="1664208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Site + 19 machines removed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Hull Time Utilisation: the EU view matches to the decimal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EU report, Time Utilisation EU, site = Hull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20</a:t>
            </a:r>
          </a:p>
        </p:txBody>
      </p:sp>
      <p:pic>
        <p:nvPicPr>
          <p:cNvPr id="6" name="Picture 5" descr="27-eu-time-util-h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95" y="1645920"/>
            <a:ext cx="5425289" cy="4480560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400800" y="16916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MATCH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240280"/>
          <a:ext cx="53949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Site + filter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EU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OEE Time Total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3,864,430.10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3,864,430.10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+0.00%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Total Time Total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9,734,724.13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9,734,724.13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+0.00%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Planned OPT Total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9,038,633.88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9,038,793.88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-0.00%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840480"/>
            <a:ext cx="539496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Time Utilisation keeps the seconds in both reports, so the times match exactly. The 160 minutes on Planned OPT are the refresh date.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Notts Time Utilisation: site before and after the EU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Nottingham site report, 23 packing machines kept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21</a:t>
            </a:r>
          </a:p>
        </p:txBody>
      </p:sp>
      <p:pic>
        <p:nvPicPr>
          <p:cNvPr id="6" name="Picture 5" descr="29-nott-site-time-util-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16381"/>
            <a:ext cx="5486400" cy="3305396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1664208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Site as-is</a:t>
            </a:r>
          </a:p>
        </p:txBody>
      </p:sp>
      <p:pic>
        <p:nvPicPr>
          <p:cNvPr id="8" name="Picture 7" descr="30-nott-site-time-util-eu-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787848"/>
            <a:ext cx="5486400" cy="2562462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309360" y="1664208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Site + 23 packing machines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Time Utilisation: gap to the EU, both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EU Nottingham values from the data loaded in the EU .pbix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Site / measure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Site as-is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Site + EU rule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EU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Gap as-is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Gap after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Hull OEE Time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5,505,570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3,864,430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3,864,430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+42.47%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22B31"/>
                          </a:solidFill>
                          <a:latin typeface="Calibri"/>
                        </a:rPr>
                        <a:t>+0.00%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Hull Total Time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14,283,142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9,734,724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9,734,724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+46.72%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22B31"/>
                          </a:solidFill>
                          <a:latin typeface="Calibri"/>
                        </a:rPr>
                        <a:t>+0.00%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Hull Planned OPT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13,337,438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9,038,634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9,038,794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+47.56%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22B31"/>
                          </a:solidFill>
                          <a:latin typeface="Calibri"/>
                        </a:rPr>
                        <a:t>-0.00%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Nottingham OEE Time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11,982,184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5,281,794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5,282,268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+126.84%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22B31"/>
                          </a:solidFill>
                          <a:latin typeface="Calibri"/>
                        </a:rPr>
                        <a:t>-0.01%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Nottingham Total Time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21,068,664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9,962,700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9,962,700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+111.48%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22B31"/>
                          </a:solidFill>
                          <a:latin typeface="Calibri"/>
                        </a:rPr>
                        <a:t>+0.00%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Nottingham Planned OPT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20,078,948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9,090,882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9,091,122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+120.86%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22B31"/>
                          </a:solidFill>
                          <a:latin typeface="Calibri"/>
                        </a:rPr>
                        <a:t>-0.00%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Before: </a:t>
            </a:r>
            <a:r>
              <a:rPr sz="1400">
                <a:solidFill>
                  <a:srgbClr val="222B31"/>
                </a:solidFill>
                <a:latin typeface="Calibri"/>
              </a:rPr>
              <a:t>the site shows 42% (Hull) to 127% (Nottingham) more OEE Time than the EU.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After: </a:t>
            </a:r>
            <a:r>
              <a:rPr sz="1400">
                <a:solidFill>
                  <a:srgbClr val="222B31"/>
                </a:solidFill>
                <a:latin typeface="Calibri"/>
              </a:rPr>
              <a:t>every measure within 0.01%. The machine rule is the whole difference.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000" b="1" i="0">
                <a:solidFill>
                  <a:srgbClr val="E9A83A"/>
                </a:solidFill>
                <a:latin typeface="Cambr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0584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Glidepath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058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C9D8E0"/>
                </a:solidFill>
                <a:latin typeface="Calibri"/>
              </a:rPr>
              <a:t>The loss target (Value) and the OEE targets come from three different files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Three reports, three glidepath folders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Power Query source step of the target query in each .pbix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24</a:t>
            </a:r>
          </a:p>
        </p:txBody>
      </p:sp>
      <p:pic>
        <p:nvPicPr>
          <p:cNvPr id="6" name="Picture 5" descr="19-oee-targets-eu-regional-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05" y="1737360"/>
            <a:ext cx="5582548" cy="2011680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1389888"/>
            <a:ext cx="5669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EU report: EU OEE Regional ASZ / Glidepaths</a:t>
            </a:r>
          </a:p>
        </p:txBody>
      </p:sp>
      <p:pic>
        <p:nvPicPr>
          <p:cNvPr id="8" name="Picture 7" descr="21-oee-targets-hull-sou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34547"/>
            <a:ext cx="5669280" cy="1955064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3858768"/>
            <a:ext cx="5669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Hull site: X-seedHull / Targets GlidePath</a:t>
            </a:r>
          </a:p>
        </p:txBody>
      </p:sp>
      <p:pic>
        <p:nvPicPr>
          <p:cNvPr id="10" name="Picture 9" descr="20-oee-targets-n-nottingham-sour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97399"/>
            <a:ext cx="5303520" cy="1891601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92240" y="1389888"/>
            <a:ext cx="5303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Nottingham site: EU OEE Dashboard ASz / GlidePath Targets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206240"/>
            <a:ext cx="5303520" cy="192024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4343400"/>
            <a:ext cx="493776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222B31"/>
                </a:solidFill>
                <a:latin typeface="Calibri"/>
              </a:rPr>
              <a:t>A site that updates its own glidepath does not change the EU report. Someone has to copy the change into the regional folder too.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Glidepath files compared cell by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Same line, OEE bucket and month; Hull bucket names mapped to the EU names (compare_glidepaths.ipynb)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25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6766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80960" y="1737360"/>
          <a:ext cx="4114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Diff.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Only reg.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Only site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Hull 2025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5,148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Hull 2026</a:t>
                      </a:r>
                    </a:p>
                  </a:txBody>
                  <a:tcPr marL="73152" marR="73152" marT="27432" marB="27432" anchor="ctr"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3,807</a:t>
                      </a:r>
                    </a:p>
                  </a:txBody>
                  <a:tcPr marL="73152" marR="73152" marT="27432" marB="27432" anchor="ctr"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818</a:t>
                      </a:r>
                    </a:p>
                  </a:txBody>
                  <a:tcPr marL="73152" marR="73152" marT="27432" marB="27432" anchor="ctr"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 marL="73152" marR="73152" marT="27432" marB="27432" anchor="ctr"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475</a:t>
                      </a:r>
                    </a:p>
                  </a:txBody>
                  <a:tcPr marL="73152" marR="73152" marT="27432" marB="27432" anchor="ctr">
                    <a:solidFill>
                      <a:srgbClr val="DD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Notts 2025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Notts 2026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4,152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540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3657600"/>
            <a:ext cx="4114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Hull 2025: identical. Hull 2026: the files split. Nottingham: same targets.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What differs in the glidepath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Hull: different 2026 targets. Nottingham: same targets, different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C8553D"/>
                </a:solidFill>
                <a:latin typeface="Cambria"/>
              </a:rPr>
              <a:t>Hull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074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818 targets differ, </a:t>
            </a:r>
            <a:r>
              <a:rPr sz="1400">
                <a:solidFill>
                  <a:srgbClr val="222B31"/>
                </a:solidFill>
                <a:latin typeface="Calibri"/>
              </a:rPr>
              <a:t>not by one factor. T1 % OEE Jan 2026: regional 44.7, site 47.7.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SP1 and SP2 </a:t>
            </a:r>
            <a:r>
              <a:rPr sz="1400">
                <a:solidFill>
                  <a:srgbClr val="222B31"/>
                </a:solidFill>
                <a:latin typeface="Calibri"/>
              </a:rPr>
              <a:t>have targets only in the site file; they ran 5,094 and 2,135 stops in 2026.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Saloon </a:t>
            </a:r>
            <a:r>
              <a:rPr sz="1400">
                <a:solidFill>
                  <a:srgbClr val="222B31"/>
                </a:solidFill>
                <a:latin typeface="Calibri"/>
              </a:rPr>
              <a:t>has targets only in the regional file (225 stops, last 27 Mar 2026).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Bucket names </a:t>
            </a:r>
            <a:r>
              <a:rPr sz="1400">
                <a:solidFill>
                  <a:srgbClr val="222B31"/>
                </a:solidFill>
                <a:latin typeface="Calibri"/>
              </a:rPr>
              <a:t>differ too: site 'Lack of Resource', regional 'Lack Of Resources'.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874519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2A9D8F"/>
                </a:solidFill>
                <a:latin typeface="Cambria"/>
              </a:rPr>
              <a:t>Nottingham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23160"/>
            <a:ext cx="5074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All loss buckets and % OEE </a:t>
            </a:r>
            <a:r>
              <a:rPr sz="1400">
                <a:solidFill>
                  <a:srgbClr val="222B31"/>
                </a:solidFill>
                <a:latin typeface="Calibri"/>
              </a:rPr>
              <a:t>match.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Two totals differ by exactly 100×: </a:t>
            </a:r>
            <a:r>
              <a:rPr sz="1400">
                <a:solidFill>
                  <a:srgbClr val="222B31"/>
                </a:solidFill>
                <a:latin typeface="Calibri"/>
              </a:rPr>
              <a:t>Unplanned and Planned Downtime (Total). Site holds 0.147, regional 14.7.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Effect: </a:t>
            </a:r>
            <a:r>
              <a:rPr sz="1400">
                <a:solidFill>
                  <a:srgbClr val="222B31"/>
                </a:solidFill>
                <a:latin typeface="Calibri"/>
              </a:rPr>
              <a:t>Nottingham Value matches; UPDT and PDT targets look 100 times apart.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Hull Value: the glidepath is the whole remaining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Cause by cause, from the EU table to the Hull site table (proof-eu-site-config-daily-losses.ipynb)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27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6766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80960" y="1737360"/>
          <a:ext cx="4114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EU (Hull)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1,136,962.0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+ glidepath file and key</a:t>
                      </a:r>
                    </a:p>
                  </a:txBody>
                  <a:tcPr marL="73152" marR="73152" marT="27432" marB="27432" anchor="ctr">
                    <a:solidFill>
                      <a:srgbClr val="DD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+73,847.0</a:t>
                      </a:r>
                    </a:p>
                  </a:txBody>
                  <a:tcPr marL="73152" marR="73152" marT="27432" marB="27432" anchor="ctr">
                    <a:solidFill>
                      <a:srgbClr val="DD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+ refresh date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–237.7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= Hull site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1,210,571.3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4069080"/>
            <a:ext cx="41148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Redoing the EU lookup with the site's file and key reproduces the site Value on all but 36 of 224,885 stops.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000" b="1" i="0">
                <a:solidFill>
                  <a:srgbClr val="E9A83A"/>
                </a:solidFill>
                <a:latin typeface="Cambria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0584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Summary and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058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C9D8E0"/>
                </a:solidFill>
                <a:latin typeface="Calibri"/>
              </a:rPr>
              <a:t>What differs, how big it is, and the options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Smaller differences to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None of these changes the conclusion, but each shows up in a detailed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29</a:t>
            </a:r>
          </a:p>
        </p:txBody>
      </p:sp>
      <p:pic>
        <p:nvPicPr>
          <p:cNvPr id="6" name="Picture 5" descr="11-plan-opt-provid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16516"/>
            <a:ext cx="5852160" cy="3539366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675120" y="1691640"/>
            <a:ext cx="5120640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dirty="0">
                <a:solidFill>
                  <a:srgbClr val="2A9D8F"/>
                </a:solidFill>
              </a:rPr>
              <a:t>▪ </a:t>
            </a:r>
            <a:r>
              <a:rPr sz="1300" b="1" dirty="0">
                <a:solidFill>
                  <a:srgbClr val="222B31"/>
                </a:solidFill>
                <a:latin typeface="Calibri"/>
              </a:rPr>
              <a:t>Seconds dropped: </a:t>
            </a:r>
            <a:r>
              <a:rPr sz="1300" dirty="0">
                <a:solidFill>
                  <a:srgbClr val="222B31"/>
                </a:solidFill>
                <a:latin typeface="Calibri"/>
              </a:rPr>
              <a:t>the EU Plan OPT union splits each time on ':' and keeps hours and minutes (OEE Time –0.1%).</a:t>
            </a:r>
          </a:p>
          <a:p>
            <a:pPr>
              <a:spcAft>
                <a:spcPts val="800"/>
              </a:spcAft>
            </a:pPr>
            <a:r>
              <a:rPr sz="1300" dirty="0">
                <a:solidFill>
                  <a:srgbClr val="2A9D8F"/>
                </a:solidFill>
              </a:rPr>
              <a:t>▪ </a:t>
            </a:r>
            <a:r>
              <a:rPr sz="1300" b="1" dirty="0">
                <a:solidFill>
                  <a:srgbClr val="222B31"/>
                </a:solidFill>
                <a:latin typeface="Calibri"/>
              </a:rPr>
              <a:t>Hull duplicates: </a:t>
            </a:r>
            <a:r>
              <a:rPr sz="1300" dirty="0">
                <a:solidFill>
                  <a:srgbClr val="222B31"/>
                </a:solidFill>
                <a:latin typeface="Calibri"/>
              </a:rPr>
              <a:t>the site keeps the newest copy of a stop found in two files, the EU the first listed.</a:t>
            </a:r>
          </a:p>
          <a:p>
            <a:pPr>
              <a:spcAft>
                <a:spcPts val="800"/>
              </a:spcAft>
            </a:pPr>
            <a:r>
              <a:rPr sz="1300" dirty="0">
                <a:solidFill>
                  <a:srgbClr val="2A9D8F"/>
                </a:solidFill>
              </a:rPr>
              <a:t>▪ </a:t>
            </a:r>
            <a:r>
              <a:rPr sz="1300" b="1" dirty="0">
                <a:solidFill>
                  <a:srgbClr val="222B31"/>
                </a:solidFill>
                <a:latin typeface="Calibri"/>
              </a:rPr>
              <a:t>Nottingham machine names: </a:t>
            </a:r>
            <a:r>
              <a:rPr sz="1300" dirty="0">
                <a:solidFill>
                  <a:srgbClr val="222B31"/>
                </a:solidFill>
                <a:latin typeface="Calibri"/>
              </a:rPr>
              <a:t>2,651 EU stops (Sep) have no row in Machine Names EU and drop out of visuals split by area or machine.</a:t>
            </a:r>
          </a:p>
          <a:p>
            <a:pPr>
              <a:spcAft>
                <a:spcPts val="800"/>
              </a:spcAft>
            </a:pPr>
            <a:r>
              <a:rPr sz="1300" dirty="0">
                <a:solidFill>
                  <a:srgbClr val="2A9D8F"/>
                </a:solidFill>
              </a:rPr>
              <a:t>▪ </a:t>
            </a:r>
            <a:r>
              <a:rPr sz="1300" b="1" dirty="0">
                <a:solidFill>
                  <a:srgbClr val="222B31"/>
                </a:solidFill>
                <a:latin typeface="Calibri"/>
              </a:rPr>
              <a:t>Volume Total: </a:t>
            </a:r>
            <a:r>
              <a:rPr sz="1300" dirty="0">
                <a:solidFill>
                  <a:srgbClr val="222B31"/>
                </a:solidFill>
                <a:latin typeface="Calibri"/>
              </a:rPr>
              <a:t>repeated on every stop of a machine and day; never sum it.</a:t>
            </a:r>
          </a:p>
          <a:p>
            <a:pPr>
              <a:spcAft>
                <a:spcPts val="800"/>
              </a:spcAft>
            </a:pPr>
            <a:r>
              <a:rPr sz="1300" dirty="0">
                <a:solidFill>
                  <a:srgbClr val="2A9D8F"/>
                </a:solidFill>
              </a:rPr>
              <a:t>▪ </a:t>
            </a:r>
            <a:r>
              <a:rPr sz="1300" b="1" dirty="0">
                <a:solidFill>
                  <a:srgbClr val="222B31"/>
                </a:solidFill>
                <a:latin typeface="Calibri"/>
              </a:rPr>
              <a:t>Not checked: </a:t>
            </a:r>
            <a:r>
              <a:rPr sz="1300" dirty="0">
                <a:solidFill>
                  <a:srgbClr val="222B31"/>
                </a:solidFill>
                <a:latin typeface="Calibri"/>
              </a:rPr>
              <a:t>slicers and page filters, Weinheim and Mira.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What makes the EU and site numbers differ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Size of each cause at Hull and Nottingham, data up to 15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Cause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Tables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Hull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Nottingham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Hidden machine filter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all three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Losses +40% min, Plan OPT +42% Good Parts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Losses +13.5% min, TU +127% OEE Time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scope rule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Glidepath file and key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Losses Value, targets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Value +6.5%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units of 2 totals (100×)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reference data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Seconds dropped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Plan OPT times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OEE Time –0.13%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OEE Time –0.1%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Refresh date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under 0.01%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under 0.01%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1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With the same scope and the same target file, the EU and site reports give the same numbers.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Reconciliation options: machine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Decide one rule per site and apply it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4846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E9A83A"/>
                </a:solidFill>
                <a:latin typeface="Calibri"/>
              </a:rPr>
              <a:t>Option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4846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1F3A4D"/>
                </a:solidFill>
                <a:latin typeface="Cambria"/>
              </a:rPr>
              <a:t>Use the site data as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803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>
                <a:solidFill>
                  <a:srgbClr val="222B31"/>
                </a:solidFill>
                <a:latin typeface="Calibri"/>
              </a:rPr>
              <a:t>No extra filter: EU = site.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>
                <a:solidFill>
                  <a:srgbClr val="222B31"/>
                </a:solidFill>
                <a:latin typeface="Calibri"/>
              </a:rPr>
              <a:t>EU totals go up (process machines added).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>
                <a:solidFill>
                  <a:srgbClr val="222B31"/>
                </a:solidFill>
                <a:latin typeface="Calibri"/>
              </a:rPr>
              <a:t>Simple, nothing to maintain.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846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E9A83A"/>
                </a:solidFill>
                <a:latin typeface="Calibri"/>
              </a:rPr>
              <a:t>Option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4846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1F3A4D"/>
                </a:solidFill>
                <a:latin typeface="Cambria"/>
              </a:rPr>
              <a:t>One shared 'In EU Report'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803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>
                <a:solidFill>
                  <a:srgbClr val="222B31"/>
                </a:solidFill>
                <a:latin typeface="Calibri"/>
              </a:rPr>
              <a:t>One lookup per site and machine decides what the EU counts.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>
                <a:solidFill>
                  <a:srgbClr val="222B31"/>
                </a:solidFill>
                <a:latin typeface="Calibri"/>
              </a:rPr>
              <a:t>Same rule for all three tables.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>
                <a:solidFill>
                  <a:srgbClr val="222B31"/>
                </a:solidFill>
                <a:latin typeface="Calibri"/>
              </a:rPr>
              <a:t>Already built in the new report tables (config/report_scope.csv).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1208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F3A4D"/>
                </a:solidFill>
                <a:latin typeface="Calibri"/>
              </a:rPr>
              <a:t>Questions for Reckitt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Why are these machines out of the EU report (packing lines only?)  •  Why does Nottingham Daily Losses keep manufacturing machines when Plan OPT and Time Utilisation do not?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Reconciliation options: glidepath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One master file per site, one unit, one set of bucket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474720" cy="438912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3017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C8553D"/>
                </a:solidFill>
                <a:latin typeface="Cambria"/>
              </a:rPr>
              <a:t>Hull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688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>
                <a:solidFill>
                  <a:srgbClr val="222B31"/>
                </a:solidFill>
                <a:latin typeface="Calibri"/>
              </a:rPr>
              <a:t>Pick the master: regional or the site's V7 file.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>
                <a:solidFill>
                  <a:srgbClr val="222B31"/>
                </a:solidFill>
                <a:latin typeface="Calibri"/>
              </a:rPr>
              <a:t>The site file covers SP1, SP2 and the 2026 revisions; the regional copy looks like 2025.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>
                <a:solidFill>
                  <a:srgbClr val="222B31"/>
                </a:solidFill>
                <a:latin typeface="Calibri"/>
              </a:rPr>
              <a:t>Align bucket names with the EU names, or the lookup misses.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737360"/>
            <a:ext cx="3474720" cy="438912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1999" y="1874519"/>
            <a:ext cx="3017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2A9D8F"/>
                </a:solidFill>
                <a:latin typeface="Cambria"/>
              </a:rPr>
              <a:t>Nottingham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4688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>
                <a:solidFill>
                  <a:srgbClr val="222B31"/>
                </a:solidFill>
                <a:latin typeface="Calibri"/>
              </a:rPr>
              <a:t>Content already the same.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>
                <a:solidFill>
                  <a:srgbClr val="222B31"/>
                </a:solidFill>
                <a:latin typeface="Calibri"/>
              </a:rPr>
              <a:t>Agree one unit for the two Downtime totals: percent or fraction.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>
                <a:solidFill>
                  <a:srgbClr val="222B31"/>
                </a:solidFill>
                <a:latin typeface="Calibri"/>
              </a:rPr>
              <a:t>Then the regional and site files can be one file.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737360"/>
            <a:ext cx="3474720" cy="438912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19"/>
            <a:ext cx="3017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1F3A4D"/>
                </a:solidFill>
                <a:latin typeface="Cambria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>
                <a:solidFill>
                  <a:srgbClr val="222B31"/>
                </a:solidFill>
                <a:latin typeface="Calibri"/>
              </a:rPr>
              <a:t>Who updates the regional folder when a site changes its glidepath?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>
                <a:solidFill>
                  <a:srgbClr val="222B31"/>
                </a:solidFill>
                <a:latin typeface="Calibri"/>
              </a:rPr>
              <a:t>How often do the targets change (monthly, yearly)?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>
                <a:solidFill>
                  <a:srgbClr val="222B31"/>
                </a:solidFill>
                <a:latin typeface="Calibri"/>
              </a:rPr>
              <a:t>One file read by every report removes this gap for good.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97280"/>
            <a:ext cx="100584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Next steps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E9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3A4D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194560"/>
            <a:ext cx="96012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Reckitt confirms the machine scope rule per site and table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3108960"/>
            <a:ext cx="548640" cy="548640"/>
          </a:xfrm>
          <a:prstGeom prst="ellipse">
            <a:avLst/>
          </a:prstGeom>
          <a:solidFill>
            <a:srgbClr val="E9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3A4D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108960"/>
            <a:ext cx="96012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Reckitt names the master glidepath file per site and the unit of the totals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E9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3A4D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023360"/>
            <a:ext cx="96012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Apply both in one place: the scope file and one glidepath per site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937760"/>
            <a:ext cx="548640" cy="548640"/>
          </a:xfrm>
          <a:prstGeom prst="ellipse">
            <a:avLst/>
          </a:prstGeom>
          <a:solidFill>
            <a:srgbClr val="E9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3A4D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937760"/>
            <a:ext cx="96012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Re-run the same checks (EU vs site, Duration, Good Parts, Value) after the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3009</Words>
  <Application>Microsoft Office PowerPoint</Application>
  <PresentationFormat>Widescreen</PresentationFormat>
  <Paragraphs>523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Hanif, Mufti</cp:lastModifiedBy>
  <cp:revision>2</cp:revision>
  <dcterms:created xsi:type="dcterms:W3CDTF">2013-01-27T09:14:16Z</dcterms:created>
  <dcterms:modified xsi:type="dcterms:W3CDTF">2026-10-27T09:38:19Z</dcterms:modified>
  <cp:category/>
</cp:coreProperties>
</file>