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02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Site as-is</c:v>
                </c:pt>
              </c:strCache>
            </c:strRef>
          </c:tx>
          <c:spPr>
            <a:solidFill>
              <a:srgbClr val="C8553D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Hull losses min</c:v>
                </c:pt>
                <c:pt idx="1">
                  <c:v>Hull Good Parts</c:v>
                </c:pt>
                <c:pt idx="2">
                  <c:v>Hull TU OEE Time</c:v>
                </c:pt>
                <c:pt idx="3">
                  <c:v>Notts losses min</c:v>
                </c:pt>
                <c:pt idx="4">
                  <c:v>Notts Good Parts</c:v>
                </c:pt>
                <c:pt idx="5">
                  <c:v>Notts TU OEE Time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40.21</c:v>
                </c:pt>
                <c:pt idx="1">
                  <c:v>42.38</c:v>
                </c:pt>
                <c:pt idx="2">
                  <c:v>42.47</c:v>
                </c:pt>
                <c:pt idx="3">
                  <c:v>13.5</c:v>
                </c:pt>
                <c:pt idx="4">
                  <c:v>4.8</c:v>
                </c:pt>
                <c:pt idx="5">
                  <c:v>126.84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287-49C0-8E76-3B4C81D326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Site + EU rule</c:v>
                </c:pt>
              </c:strCache>
            </c:strRef>
          </c:tx>
          <c:spPr>
            <a:solidFill>
              <a:srgbClr val="2A9D8F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Hull losses min</c:v>
                </c:pt>
                <c:pt idx="1">
                  <c:v>Hull Good Parts</c:v>
                </c:pt>
                <c:pt idx="2">
                  <c:v>Hull TU OEE Time</c:v>
                </c:pt>
                <c:pt idx="3">
                  <c:v>Notts losses min</c:v>
                </c:pt>
                <c:pt idx="4">
                  <c:v>Notts Good Parts</c:v>
                </c:pt>
                <c:pt idx="5">
                  <c:v>Notts TU OEE Time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0.02</c:v>
                </c:pt>
                <c:pt idx="1">
                  <c:v>0</c:v>
                </c:pt>
                <c:pt idx="2">
                  <c:v>0</c:v>
                </c:pt>
                <c:pt idx="3">
                  <c:v>0.03</c:v>
                </c:pt>
                <c:pt idx="4">
                  <c:v>0</c:v>
                </c:pt>
                <c:pt idx="5">
                  <c:v>-0.01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287-49C0-8E76-3B4C81D326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Same</c:v>
                </c:pt>
              </c:strCache>
            </c:strRef>
          </c:tx>
          <c:spPr>
            <a:solidFill>
              <a:srgbClr val="2A9D8F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Hull 2025</c:v>
                </c:pt>
                <c:pt idx="1">
                  <c:v>Hull 2026</c:v>
                </c:pt>
                <c:pt idx="2">
                  <c:v>Notts 2025</c:v>
                </c:pt>
                <c:pt idx="3">
                  <c:v>Notts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5148</c:v>
                </c:pt>
                <c:pt idx="1">
                  <c:v>3807</c:v>
                </c:pt>
                <c:pt idx="2">
                  <c:v>0</c:v>
                </c:pt>
                <c:pt idx="3">
                  <c:v>4152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D4E-4463-B77F-1E66FDCD72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Different</c:v>
                </c:pt>
              </c:strCache>
            </c:strRef>
          </c:tx>
          <c:spPr>
            <a:solidFill>
              <a:srgbClr val="C8553D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Hull 2025</c:v>
                </c:pt>
                <c:pt idx="1">
                  <c:v>Hull 2026</c:v>
                </c:pt>
                <c:pt idx="2">
                  <c:v>Notts 2025</c:v>
                </c:pt>
                <c:pt idx="3">
                  <c:v>Notts 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818</c:v>
                </c:pt>
                <c:pt idx="2">
                  <c:v>0</c:v>
                </c:pt>
                <c:pt idx="3">
                  <c:v>540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D4E-4463-B77F-1E66FDCD72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Only regional</c:v>
                </c:pt>
              </c:strCache>
            </c:strRef>
          </c:tx>
          <c:spPr>
            <a:solidFill>
              <a:srgbClr val="E9A83A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Hull 2025</c:v>
                </c:pt>
                <c:pt idx="1">
                  <c:v>Hull 2026</c:v>
                </c:pt>
                <c:pt idx="2">
                  <c:v>Notts 2025</c:v>
                </c:pt>
                <c:pt idx="3">
                  <c:v>Notts 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204</c:v>
                </c:pt>
                <c:pt idx="2">
                  <c:v>24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8D4E-4463-B77F-1E66FDCD72E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Only site</c:v>
                </c:pt>
              </c:strCache>
            </c:strRef>
          </c:tx>
          <c:spPr>
            <a:solidFill>
              <a:srgbClr val="1F3A4D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Hull 2025</c:v>
                </c:pt>
                <c:pt idx="1">
                  <c:v>Hull 2026</c:v>
                </c:pt>
                <c:pt idx="2">
                  <c:v>Notts 2025</c:v>
                </c:pt>
                <c:pt idx="3">
                  <c:v>Notts 2026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475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8D4E-4463-B77F-1E66FDCD72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EU vs site OEE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0">
                <a:solidFill>
                  <a:srgbClr val="C9D8E0"/>
                </a:solidFill>
                <a:latin typeface="Calibri"/>
              </a:rPr>
              <a:t>Why the numbers differ, and how to reconcile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E9A83A"/>
                </a:solidFill>
                <a:latin typeface="Calibri"/>
              </a:rPr>
              <a:t>Hull and Nottingham  |  Daily Losses, Plan OPT, Time Utilisation  |  data up to 15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Same data, different set-up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With the same machines and the same target file, the EU and site reports agree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474720" cy="265176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19" y="1965960"/>
            <a:ext cx="2514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 i="0">
                <a:solidFill>
                  <a:srgbClr val="1F3A4D"/>
                </a:solidFill>
                <a:latin typeface="Calibri"/>
              </a:rPr>
              <a:t>Hidden machine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301752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The EU queries drop machines the site reports keep. This is the whole volume gap, in all three 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737360"/>
            <a:ext cx="3474720" cy="265176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1999" y="1965960"/>
            <a:ext cx="457200" cy="457200"/>
          </a:xfrm>
          <a:prstGeom prst="ellipse">
            <a:avLst/>
          </a:prstGeom>
          <a:solidFill>
            <a:srgbClr val="E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59" y="1965960"/>
            <a:ext cx="2514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 i="0">
                <a:solidFill>
                  <a:srgbClr val="1F3A4D"/>
                </a:solidFill>
                <a:latin typeface="Calibri"/>
              </a:rPr>
              <a:t>Different glidepath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606040"/>
            <a:ext cx="301752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The EU reads targets from a regional folder, each site from its own. Hull's files split in 2026; Nottingham's differ only in units.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37360"/>
            <a:ext cx="3474720" cy="265176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5399" y="1965960"/>
            <a:ext cx="2514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 i="0">
                <a:solidFill>
                  <a:srgbClr val="1F3A4D"/>
                </a:solidFill>
                <a:latin typeface="Calibri"/>
              </a:rPr>
              <a:t>Seconds dropped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017520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The EU Plan OPT step keeps hours and minutes only, so its times are about 0.1% lower.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3474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2A9D8F"/>
                </a:solidFill>
                <a:latin typeface="Cambria"/>
              </a:rPr>
              <a:t>40.2%  →  0.02%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12080"/>
            <a:ext cx="3474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C6B73"/>
                </a:solidFill>
                <a:latin typeface="Calibri"/>
              </a:rPr>
              <a:t>Hull losses duration gap, before / after the EU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4663440"/>
            <a:ext cx="3474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2A9D8F"/>
                </a:solidFill>
                <a:latin typeface="Cambria"/>
              </a:rPr>
              <a:t>13.5%  →  0.03%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5212080"/>
            <a:ext cx="3474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C6B73"/>
                </a:solidFill>
                <a:latin typeface="Calibri"/>
              </a:rPr>
              <a:t>Nottingham losses duration gap, before / after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4663440"/>
            <a:ext cx="3474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C8553D"/>
                </a:solidFill>
                <a:latin typeface="Cambria"/>
              </a:rPr>
              <a:t>6.5%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5212080"/>
            <a:ext cx="3474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5C6B73"/>
                </a:solidFill>
                <a:latin typeface="Calibri"/>
              </a:rPr>
              <a:t>Hull loss target (Value) gap: glidepath, not filter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The EU report removes machines in Power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Step 'Filtered Rows' at the end of each site query in the EU file; not visible on any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Site / table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EU rule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Machines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Hull: all three tables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remove 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4 Tonne, 6 Tonne, 6000L, Analgesics Processing, Analgesics X Press, Bosch Capsulator, Dettol 1, Evolution, Fitten, Gaviscon TPR, Gaviscon XP700(A), GG4, GG5, GG6, GG7, Lemsip Process, Senokot Press, Symex suite, Vacumix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Nottingham: Daily Losses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remove 9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Bosch, Fette 23, Fette12, Fette2, Fette20, Fette4, Fette5, Gran0, S14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Nottingham: Plan OPT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keep 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area ' Strepsils Packing' or 'SD Packing', except S14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Nottingham: Time Utilisation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keep 23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222B31"/>
                          </a:solidFill>
                          <a:latin typeface="Calibri"/>
                        </a:rPr>
                        <a:t>N1, N3, N4, N5, N6, N7, N8, N9 Auto, N10, N11, N12, O5, O6, S04, S05, S06, S08, S10, S11, S12, S13, T2, T7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4340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F3A4D"/>
                </a:solidFill>
                <a:latin typeface="Calibri"/>
              </a:rPr>
              <a:t>In the EU Power Query (last step of each site query)</a:t>
            </a:r>
          </a:p>
        </p:txBody>
      </p:sp>
      <p:pic>
        <p:nvPicPr>
          <p:cNvPr id="8" name="Picture 7" descr="crop-hull-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75516"/>
            <a:ext cx="6400800" cy="615926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132320" y="4800600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5C6B73"/>
                </a:solidFill>
                <a:latin typeface="Calibri"/>
              </a:rPr>
              <a:t>Hull, all three tables</a:t>
            </a:r>
          </a:p>
        </p:txBody>
      </p:sp>
      <p:pic>
        <p:nvPicPr>
          <p:cNvPr id="10" name="Picture 9" descr="crop-nott-losses-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63243"/>
            <a:ext cx="8778240" cy="101176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509760" y="5367528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5C6B73"/>
                </a:solidFill>
                <a:latin typeface="Calibri"/>
              </a:rPr>
              <a:t>Nottingham Daily Losses</a:t>
            </a:r>
          </a:p>
        </p:txBody>
      </p:sp>
      <p:pic>
        <p:nvPicPr>
          <p:cNvPr id="12" name="Picture 11" descr="crop-nott-planopt-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769813"/>
            <a:ext cx="8778240" cy="91540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9509760" y="5669280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5C6B73"/>
                </a:solidFill>
                <a:latin typeface="Calibri"/>
              </a:rPr>
              <a:t>Nottingham Plan OPT</a:t>
            </a:r>
          </a:p>
        </p:txBody>
      </p:sp>
      <p:pic>
        <p:nvPicPr>
          <p:cNvPr id="14" name="Picture 13" descr="crop-nott-tu-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071565"/>
            <a:ext cx="8778240" cy="91540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9509760" y="5971032"/>
            <a:ext cx="2194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5C6B73"/>
                </a:solidFill>
                <a:latin typeface="Calibri"/>
              </a:rPr>
              <a:t>Nottingham Time Utilisation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Daily Losses: the EU rule closes the volume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Site reports with the EU machine rule applied in the visual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15-eu-vs-hull-after-filter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424653"/>
            <a:ext cx="5486400" cy="2465893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1664208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Hull: EU vs site + 19 machines out</a:t>
            </a:r>
          </a:p>
        </p:txBody>
      </p:sp>
      <p:pic>
        <p:nvPicPr>
          <p:cNvPr id="8" name="Picture 7" descr="18-eu-vs-nottingham-filtered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246443"/>
            <a:ext cx="5486400" cy="2822313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09360" y="1664208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Nottingham: EU vs site + 9 machines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5486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Hull: Duration +0.02%, stops +0.04%, Value +6.5% (glidepath).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486400"/>
            <a:ext cx="5486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Nottingham: Duration +0.03%, stops +0.03%, Value +0.07%.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All three tables: gap to the EU, before and after the EU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Site total vs EU total, Dec 2024 to 15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63840" y="1737360"/>
          <a:ext cx="39319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 marL="73152" marR="73152" marT="27432" marB="27432" anchor="ctr"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Hull losses duration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+40.21%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+0.02%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Hull Plan OPT Good Parts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+42.38%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Hull TU OEE 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+42.47%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Notts losses duration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+13.50%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+0.03%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Notts Plan OPT Good Parts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+4.80%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Notts TU OEE Time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B31"/>
                          </a:solidFill>
                          <a:latin typeface="Calibri"/>
                        </a:rPr>
                        <a:t>+126.84%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222B31"/>
                          </a:solidFill>
                          <a:latin typeface="Calibri"/>
                        </a:rPr>
                        <a:t>–0.01%</a:t>
                      </a:r>
                    </a:p>
                  </a:txBody>
                  <a:tcPr marL="73152" marR="73152" marT="27432" marB="27432" anchor="ctr">
                    <a:solidFill>
                      <a:srgbClr val="EE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63840" y="4343400"/>
            <a:ext cx="39319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C6B73"/>
                </a:solidFill>
                <a:latin typeface="Calibri"/>
              </a:rPr>
              <a:t>Plan OPT times in the EU stay about 0.1% lower: the union step drops the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Plan OPT: the EU rule closes the volume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EU report next to the site report with the EU rule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26-eu-plan-opt-h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414" y="2011680"/>
            <a:ext cx="4766851" cy="3291840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1664208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EU Plan OPT, Hull</a:t>
            </a:r>
          </a:p>
        </p:txBody>
      </p:sp>
      <p:pic>
        <p:nvPicPr>
          <p:cNvPr id="8" name="Picture 7" descr="23c-hull-site-plan-opt-eu-filter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470" y="2011680"/>
            <a:ext cx="5080178" cy="3291840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09360" y="1664208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Hull site Plan OPT, 19 machines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1155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Hull: Good Parts 366,808,946 on both sides (site as-is +42%). EU OEE Time 0.13% lower: seconds dropped.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11155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Nottingham (23 packing machines): Good Parts 621,276,541 on both sides (site as-is +4.8%).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Time Utilisation: the EU rule closes the volume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EU report next to the site report with the EU rule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27-eu-time-util-h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876" y="2011680"/>
            <a:ext cx="3985927" cy="3291840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1664208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EU Time Utilisation, Hull</a:t>
            </a:r>
          </a:p>
        </p:txBody>
      </p:sp>
      <p:pic>
        <p:nvPicPr>
          <p:cNvPr id="8" name="Picture 7" descr="25c-hull-site-time-util-eu-filter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475" y="2011680"/>
            <a:ext cx="4268169" cy="3291840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309360" y="1664208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Hull site Time Utilisation, 19 machines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1155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Hull: OEE Time Total 3,864,430.10 on both sides (site as-is +42%).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11155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22B31"/>
                </a:solidFill>
                <a:latin typeface="Calibri"/>
              </a:rPr>
              <a:t>Nottingham (23 machines): OEE Time Total 5,281,793.65 site vs 5,282,267.52 EU (site as-is +127%).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Three reports, three glidepath folders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Source step of the target query in each .pbix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19-oee-targets-eu-regional-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05" y="1737360"/>
            <a:ext cx="5582548" cy="2011680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1389888"/>
            <a:ext cx="5669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EU report: EU OEE Regional ASZ / Glidepaths</a:t>
            </a:r>
          </a:p>
        </p:txBody>
      </p:sp>
      <p:pic>
        <p:nvPicPr>
          <p:cNvPr id="8" name="Picture 7" descr="21-oee-targets-hull-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34547"/>
            <a:ext cx="5669280" cy="1955064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3858768"/>
            <a:ext cx="5669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Hull site: X-seedHull / Targets GlidePath</a:t>
            </a:r>
          </a:p>
        </p:txBody>
      </p:sp>
      <p:pic>
        <p:nvPicPr>
          <p:cNvPr id="10" name="Picture 9" descr="20-oee-targets-n-nottingham-sour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97399"/>
            <a:ext cx="5303520" cy="1891601"/>
          </a:xfrm>
          <a:prstGeom prst="rect">
            <a:avLst/>
          </a:prstGeom>
          <a:ln w="9525">
            <a:solidFill>
              <a:srgbClr val="C9D2D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92240" y="1389888"/>
            <a:ext cx="5303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3A4D"/>
                </a:solidFill>
                <a:latin typeface="Calibri"/>
              </a:rPr>
              <a:t>Nottingham site: EU OEE Dashboard ASz / GlidePath Targets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206240"/>
            <a:ext cx="5303520" cy="192024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4343400"/>
            <a:ext cx="49377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22B31"/>
                </a:solidFill>
                <a:latin typeface="Calibri"/>
              </a:rPr>
              <a:t>A site that updates its own glidepath does not change the EU report unless the same change is copied into the regional folder.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Glidepath files compared cell by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Same line, OEE bucket and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58521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1737360"/>
            <a:ext cx="5029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C8553D"/>
                </a:solidFill>
                <a:latin typeface="Cambria"/>
              </a:rPr>
              <a:t>Hull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945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818 targets differ, </a:t>
            </a:r>
            <a:r>
              <a:rPr sz="1400">
                <a:solidFill>
                  <a:srgbClr val="222B31"/>
                </a:solidFill>
                <a:latin typeface="Calibri"/>
              </a:rPr>
              <a:t>e.g. T1 % OEE Jan 2026: regional 44.7, site 47.7.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SP1, SP2 </a:t>
            </a:r>
            <a:r>
              <a:rPr sz="1400">
                <a:solidFill>
                  <a:srgbClr val="222B31"/>
                </a:solidFill>
                <a:latin typeface="Calibri"/>
              </a:rPr>
              <a:t>only in the site file (5,094 and 2,135 stops in 2026).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Saloon </a:t>
            </a:r>
            <a:r>
              <a:rPr sz="1400">
                <a:solidFill>
                  <a:srgbClr val="222B31"/>
                </a:solidFill>
                <a:latin typeface="Calibri"/>
              </a:rPr>
              <a:t>only in the regional file.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Result: </a:t>
            </a:r>
            <a:r>
              <a:rPr sz="1400">
                <a:solidFill>
                  <a:srgbClr val="222B31"/>
                </a:solidFill>
                <a:latin typeface="Calibri"/>
              </a:rPr>
              <a:t>Hull Value 6.5% apart.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4297680"/>
            <a:ext cx="5029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2A9D8F"/>
                </a:solidFill>
                <a:latin typeface="Cambria"/>
              </a:rPr>
              <a:t>Nottingham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A9D8F"/>
                </a:solidFill>
              </a:rPr>
              <a:t>▪ </a:t>
            </a:r>
            <a:r>
              <a:rPr sz="1400" b="1">
                <a:solidFill>
                  <a:srgbClr val="222B31"/>
                </a:solidFill>
                <a:latin typeface="Calibri"/>
              </a:rPr>
              <a:t>Same targets. </a:t>
            </a:r>
            <a:r>
              <a:rPr sz="1400">
                <a:solidFill>
                  <a:srgbClr val="222B31"/>
                </a:solidFill>
                <a:latin typeface="Calibri"/>
              </a:rPr>
              <a:t>Only the two Downtime totals differ, by exactly 100× (site 0.147, regional 14.7).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F3A4D"/>
                </a:solidFill>
                <a:latin typeface="Cambria"/>
              </a:rPr>
              <a:t>Reconciliation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5C6B73"/>
                </a:solidFill>
                <a:latin typeface="Calibri"/>
              </a:rPr>
              <a:t>One scope rule and one glidepath file per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5C6B73"/>
                </a:solidFill>
                <a:latin typeface="Calibri"/>
              </a:rPr>
              <a:t>EU vs site OEE reports  |  data cut 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5C6B73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4846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C8553D"/>
                </a:solidFill>
                <a:latin typeface="Cambria"/>
              </a:rPr>
              <a:t>Machine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dirty="0">
                <a:solidFill>
                  <a:srgbClr val="2A9D8F"/>
                </a:solidFill>
              </a:rPr>
              <a:t>▪ </a:t>
            </a:r>
            <a:r>
              <a:rPr sz="1500" dirty="0">
                <a:solidFill>
                  <a:srgbClr val="222B31"/>
                </a:solidFill>
                <a:latin typeface="Calibri"/>
              </a:rPr>
              <a:t>Option 1: use the site data as it is. EU totals go up.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2A9D8F"/>
                </a:solidFill>
              </a:rPr>
              <a:t>▪ </a:t>
            </a:r>
            <a:r>
              <a:rPr sz="1500" dirty="0">
                <a:solidFill>
                  <a:srgbClr val="222B31"/>
                </a:solidFill>
                <a:latin typeface="Calibri"/>
              </a:rPr>
              <a:t>Option 2: one 'In EU Report' rule per site and machine, the same for all three tables.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2A9D8F"/>
                </a:solidFill>
              </a:rPr>
              <a:t>▪ </a:t>
            </a:r>
            <a:r>
              <a:rPr sz="1500" dirty="0">
                <a:solidFill>
                  <a:srgbClr val="222B31"/>
                </a:solidFill>
                <a:latin typeface="Calibri"/>
              </a:rPr>
              <a:t>Ask: why are these machines out, and should Nottingham losses follow the packing-only rule?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846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E9A83A"/>
                </a:solidFill>
                <a:latin typeface="Cambria"/>
              </a:rPr>
              <a:t>Glidepath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846320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dirty="0">
                <a:solidFill>
                  <a:srgbClr val="2A9D8F"/>
                </a:solidFill>
              </a:rPr>
              <a:t>▪ </a:t>
            </a:r>
            <a:r>
              <a:rPr lang="en-US" sz="1500" dirty="0">
                <a:solidFill>
                  <a:srgbClr val="222B31"/>
                </a:solidFill>
                <a:latin typeface="Calibri"/>
              </a:rPr>
              <a:t>Which one is the correct Glidepath</a:t>
            </a:r>
            <a:endParaRPr sz="1500" dirty="0">
              <a:solidFill>
                <a:srgbClr val="222B31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2A9D8F"/>
                </a:solidFill>
              </a:rPr>
              <a:t>▪ </a:t>
            </a:r>
            <a:r>
              <a:rPr sz="1500" dirty="0">
                <a:solidFill>
                  <a:srgbClr val="222B31"/>
                </a:solidFill>
                <a:latin typeface="Calibri"/>
              </a:rPr>
              <a:t>Ask: who owns the folder, and how often do targets change?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1070</Words>
  <Application>Microsoft Office PowerPoint</Application>
  <PresentationFormat>Widescreen</PresentationFormat>
  <Paragraphs>122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Hanif, Mufti</cp:lastModifiedBy>
  <cp:revision>2</cp:revision>
  <dcterms:created xsi:type="dcterms:W3CDTF">2013-01-27T09:14:16Z</dcterms:created>
  <dcterms:modified xsi:type="dcterms:W3CDTF">2026-10-27T11:02:41Z</dcterms:modified>
  <cp:category/>
</cp:coreProperties>
</file>